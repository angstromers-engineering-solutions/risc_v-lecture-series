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2113FE-60CE-4A96-9C7A-2FD803D5F991}">
  <a:tblStyle styleId="{1C2113FE-60CE-4A96-9C7A-2FD803D5F991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77fc8acde651edf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77fc8acde651edf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77fc8acde651edf6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77fc8acde651edf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77fc8acde651edf6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77fc8acde651edf6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77fc8acde651edf6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77fc8acde651edf6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77fc8acde651edf6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77fc8acde651edf6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77fc8acde651edf6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77fc8acde651edf6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77fc8acde651edf6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77fc8acde651edf6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77fc8acde651edf6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77fc8acde651edf6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77fc8acde651edf6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77fc8acde651edf6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77fc8acde651edf6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77fc8acde651edf6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77fc8acde651edf6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77fc8acde651edf6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77fc8acde651edf6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77fc8acde651edf6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77fc8acde651edf6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77fc8acde651edf6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77fc8acde651edf6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77fc8acde651edf6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77fc8acde651edf6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77fc8acde651edf6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77fc8acde651edf6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77fc8acde651edf6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77fc8acde651edf6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77fc8acde651edf6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77fc8acde651edf6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77fc8acde651edf6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48" name="Google Shape;248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9" name="Google Shape;249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2" name="Google Shape;25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5" name="Google Shape;255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6" name="Google Shape;25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9" name="Google Shape;259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0" name="Google Shape;260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1" name="Google Shape;26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4" name="Google Shape;26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67" name="Google Shape;26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8" name="Google Shape;2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71" name="Google Shape;27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5" name="Google Shape;27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6" name="Google Shape;27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7" name="Google Shape;27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80" name="Google Shape;28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3" name="Google Shape;28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4" name="Google Shape;28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3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"/>
          <p:cNvSpPr txBox="1"/>
          <p:nvPr>
            <p:ph idx="1" type="body"/>
          </p:nvPr>
        </p:nvSpPr>
        <p:spPr>
          <a:xfrm>
            <a:off x="311700" y="581925"/>
            <a:ext cx="8520600" cy="3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9" name="Google Shape;28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90" name="Google Shape;2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725" y="52638"/>
            <a:ext cx="1382100" cy="53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4027" y="148800"/>
            <a:ext cx="2117127" cy="33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5">
  <p:cSld name="TITLE_AND_BODY_5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"/>
          <p:cNvSpPr txBox="1"/>
          <p:nvPr>
            <p:ph idx="1" type="body"/>
          </p:nvPr>
        </p:nvSpPr>
        <p:spPr>
          <a:xfrm>
            <a:off x="311700" y="675800"/>
            <a:ext cx="8520600" cy="38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4" name="Google Shape;29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95" name="Google Shape;29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725" y="52638"/>
            <a:ext cx="1382100" cy="53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4027" y="148800"/>
            <a:ext cx="2117127" cy="33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4">
  <p:cSld name="TITLE_AND_BODY_4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"/>
          <p:cNvSpPr txBox="1"/>
          <p:nvPr>
            <p:ph idx="1" type="body"/>
          </p:nvPr>
        </p:nvSpPr>
        <p:spPr>
          <a:xfrm>
            <a:off x="311700" y="675800"/>
            <a:ext cx="8520600" cy="38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9" name="Google Shape;29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00" name="Google Shape;30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725" y="52638"/>
            <a:ext cx="1382100" cy="53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4027" y="148800"/>
            <a:ext cx="2117127" cy="33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3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 txBox="1"/>
          <p:nvPr>
            <p:ph idx="1" type="body"/>
          </p:nvPr>
        </p:nvSpPr>
        <p:spPr>
          <a:xfrm>
            <a:off x="311700" y="675800"/>
            <a:ext cx="3999900" cy="38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4" name="Google Shape;304;p16"/>
          <p:cNvSpPr txBox="1"/>
          <p:nvPr>
            <p:ph idx="2" type="body"/>
          </p:nvPr>
        </p:nvSpPr>
        <p:spPr>
          <a:xfrm>
            <a:off x="4832400" y="675775"/>
            <a:ext cx="3999900" cy="38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5" name="Google Shape;30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06" name="Google Shape;306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725" y="52638"/>
            <a:ext cx="1382100" cy="53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4027" y="148800"/>
            <a:ext cx="2117127" cy="33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"/>
          <p:cNvSpPr txBox="1"/>
          <p:nvPr>
            <p:ph idx="1" type="body"/>
          </p:nvPr>
        </p:nvSpPr>
        <p:spPr>
          <a:xfrm>
            <a:off x="311700" y="675800"/>
            <a:ext cx="8520600" cy="38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0" name="Google Shape;31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11" name="Google Shape;31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5725" y="52638"/>
            <a:ext cx="1382100" cy="53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4027" y="148800"/>
            <a:ext cx="2117127" cy="33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5" name="Google Shape;245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riscv-collab/riscv-gnu-toolchain" TargetMode="External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jpg"/><Relationship Id="rId8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RISC-V ISA Simulator</a:t>
            </a:r>
            <a:endParaRPr/>
          </a:p>
        </p:txBody>
      </p:sp>
      <p:sp>
        <p:nvSpPr>
          <p:cNvPr id="318" name="Google Shape;318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9"/>
          <p:cNvSpPr txBox="1"/>
          <p:nvPr>
            <p:ph idx="1" type="body"/>
          </p:nvPr>
        </p:nvSpPr>
        <p:spPr>
          <a:xfrm>
            <a:off x="311700" y="658125"/>
            <a:ext cx="8520600" cy="3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RISC-V Software Ecosystem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RISC-V Toolchain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is used as RISC-V C and C++ cross-compiler.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supports two build modes: a generic ELF/Newlib toolchain and a more sophisticated Linux-ELF/glibc toolchain.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repository link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000" u="sng">
                <a:solidFill>
                  <a:srgbClr val="0563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- riscv-collab/riscv-gnu-toolchain: GNU toolchain for RISC-V, including GCC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4" name="Google Shape;32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6842" y="3868049"/>
            <a:ext cx="168088" cy="103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31163" y="3876116"/>
            <a:ext cx="168088" cy="10219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9"/>
          <p:cNvSpPr txBox="1"/>
          <p:nvPr/>
        </p:nvSpPr>
        <p:spPr>
          <a:xfrm>
            <a:off x="1797475" y="3693236"/>
            <a:ext cx="1190100" cy="357000"/>
          </a:xfrm>
          <a:prstGeom prst="rect">
            <a:avLst/>
          </a:prstGeom>
          <a:solidFill>
            <a:srgbClr val="D4F6FF"/>
          </a:solidFill>
          <a:ln cap="flat" cmpd="sng" w="9525">
            <a:solidFill>
              <a:srgbClr val="1511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8725">
            <a:spAutoFit/>
          </a:bodyPr>
          <a:lstStyle/>
          <a:p>
            <a:pPr indent="0" lvl="0" marL="9413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29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Program</a:t>
            </a:r>
            <a:endParaRPr sz="2029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27" name="Google Shape;327;p19"/>
          <p:cNvSpPr txBox="1"/>
          <p:nvPr/>
        </p:nvSpPr>
        <p:spPr>
          <a:xfrm>
            <a:off x="2980369" y="3612142"/>
            <a:ext cx="840300" cy="2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50">
            <a:spAutoFit/>
          </a:bodyPr>
          <a:lstStyle/>
          <a:p>
            <a:pPr indent="0" lvl="0" marL="11206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2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720" u="sng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compile</a:t>
            </a:r>
            <a:endParaRPr sz="172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328" name="Google Shape;328;p19"/>
          <p:cNvGraphicFramePr/>
          <p:nvPr/>
        </p:nvGraphicFramePr>
        <p:xfrm>
          <a:off x="3911353" y="36986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{1C2113FE-60CE-4A96-9C7A-2FD803D5F991}</a:tableStyleId>
              </a:tblPr>
              <a:tblGrid>
                <a:gridCol w="1395700"/>
                <a:gridCol w="999000"/>
                <a:gridCol w="1040475"/>
              </a:tblGrid>
              <a:tr h="219175">
                <a:tc rowSpan="2">
                  <a:txBody>
                    <a:bodyPr/>
                    <a:lstStyle/>
                    <a:p>
                      <a:pPr indent="0" lvl="0" marL="7747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Executable</a:t>
                      </a:r>
                      <a:endParaRPr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39225" marB="0" marR="0" marL="0">
                    <a:lnL cap="flat" cmpd="sng" w="9525">
                      <a:solidFill>
                        <a:srgbClr val="1511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1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1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1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D6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118745" marR="0" rtl="0" algn="l">
                        <a:lnSpc>
                          <a:spcPct val="9294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execute</a:t>
                      </a:r>
                      <a:endParaRPr sz="17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1511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1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1092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Output</a:t>
                      </a:r>
                      <a:endParaRPr sz="2000" u="none" cap="none" strike="noStrike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42025" marB="0" marR="0" marL="0">
                    <a:lnL cap="flat" cmpd="sng" w="9525">
                      <a:solidFill>
                        <a:srgbClr val="1511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1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5111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5111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6D4"/>
                    </a:solidFill>
                  </a:tcPr>
                </a:tc>
              </a:tr>
              <a:tr h="252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15111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5111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0"/>
          <p:cNvSpPr txBox="1"/>
          <p:nvPr>
            <p:ph idx="1" type="body"/>
          </p:nvPr>
        </p:nvSpPr>
        <p:spPr>
          <a:xfrm>
            <a:off x="311700" y="675800"/>
            <a:ext cx="8520600" cy="38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Reduced Instruction Set: all in one page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4" name="Google Shape;334;p20"/>
          <p:cNvPicPr preferRelativeResize="0"/>
          <p:nvPr/>
        </p:nvPicPr>
        <p:blipFill rotWithShape="1">
          <a:blip r:embed="rId3">
            <a:alphaModFix/>
          </a:blip>
          <a:srcRect b="7638" l="0" r="0" t="0"/>
          <a:stretch/>
        </p:blipFill>
        <p:spPr>
          <a:xfrm>
            <a:off x="1159825" y="1224100"/>
            <a:ext cx="5848748" cy="334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"/>
          <p:cNvSpPr txBox="1"/>
          <p:nvPr>
            <p:ph idx="1" type="body"/>
          </p:nvPr>
        </p:nvSpPr>
        <p:spPr>
          <a:xfrm>
            <a:off x="311700" y="675800"/>
            <a:ext cx="8520600" cy="38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RISC-V ISA is divided into extensions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ISA defines the instructions that processor uses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0" name="Google Shape;340;p21"/>
          <p:cNvPicPr preferRelativeResize="0"/>
          <p:nvPr/>
        </p:nvPicPr>
        <p:blipFill rotWithShape="1">
          <a:blip r:embed="rId3">
            <a:alphaModFix/>
          </a:blip>
          <a:srcRect b="12126" l="0" r="0" t="0"/>
          <a:stretch/>
        </p:blipFill>
        <p:spPr>
          <a:xfrm>
            <a:off x="5748650" y="1496875"/>
            <a:ext cx="2681300" cy="307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742225"/>
            <a:ext cx="5090513" cy="266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 txBox="1"/>
          <p:nvPr>
            <p:ph idx="1" type="body"/>
          </p:nvPr>
        </p:nvSpPr>
        <p:spPr>
          <a:xfrm>
            <a:off x="311700" y="780350"/>
            <a:ext cx="8520600" cy="37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Spike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Spike is the golden reference functional RISC-V ISA C software simulator.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ISAs: RV32IMAFDQCV extensions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Privileged Spec modes (v1.11)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Single-step debugging with support for viewing memory/register contents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Highly extensible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3"/>
          <p:cNvSpPr txBox="1"/>
          <p:nvPr>
            <p:ph idx="1" type="body"/>
          </p:nvPr>
        </p:nvSpPr>
        <p:spPr>
          <a:xfrm>
            <a:off x="311700" y="581925"/>
            <a:ext cx="8520600" cy="3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Proxy Kernel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087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48"/>
              <a:buFont typeface="Times New Roman"/>
              <a:buChar char="•"/>
            </a:pPr>
            <a:r>
              <a:rPr lang="en-IN" sz="204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RISC-V Proxy Kernel, pk, is a lightweight application execution environment that can host statically-linked RISC-V ELF binaries. </a:t>
            </a:r>
            <a:endParaRPr sz="204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087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48"/>
              <a:buFont typeface="Times New Roman"/>
              <a:buChar char="•"/>
            </a:pPr>
            <a:r>
              <a:rPr lang="en-IN" sz="204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designed to support tethered RISC-V implementations with limited I/O capability and thus handles I/O-related system calls by proxying them to a host computer.</a:t>
            </a:r>
            <a:endParaRPr sz="204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087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48"/>
              <a:buFont typeface="Times New Roman"/>
              <a:buChar char="•"/>
            </a:pPr>
            <a:r>
              <a:rPr lang="en-IN" sz="204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package also contains the Berkeley Boot Loader, bbl, which is a supervisor execution environment for tethered RISC-V systems. </a:t>
            </a:r>
            <a:endParaRPr sz="2048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80879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48"/>
              <a:buFont typeface="Times New Roman"/>
              <a:buChar char="•"/>
            </a:pPr>
            <a:r>
              <a:rPr lang="en-IN" sz="2048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designed to host the RISC-V Linux port.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4"/>
          <p:cNvSpPr txBox="1"/>
          <p:nvPr>
            <p:ph idx="1" type="body"/>
          </p:nvPr>
        </p:nvSpPr>
        <p:spPr>
          <a:xfrm>
            <a:off x="311700" y="581925"/>
            <a:ext cx="8520600" cy="3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19062" lvl="0" marL="1190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 Instructions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100012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❖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assembly language, each statement (called an </a:t>
            </a:r>
            <a:r>
              <a:rPr lang="en-IN" sz="2000" u="sng">
                <a:solidFill>
                  <a:srgbClr val="063DE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executes exactly one of a short list of simple commands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10001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❖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Unlike in C (and most other High Level Languages), each line of assembly code contains at most 1 instruction.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10001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❖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Instructions are related to operations (=, +, -, *, /) in C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5"/>
          <p:cNvSpPr txBox="1"/>
          <p:nvPr>
            <p:ph idx="1" type="body"/>
          </p:nvPr>
        </p:nvSpPr>
        <p:spPr>
          <a:xfrm>
            <a:off x="311700" y="581925"/>
            <a:ext cx="8520600" cy="3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RISC-V ISA Instruction format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are 6 different encoding format for instructions.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2" name="Google Shape;362;p25"/>
          <p:cNvPicPr preferRelativeResize="0"/>
          <p:nvPr/>
        </p:nvPicPr>
        <p:blipFill rotWithShape="1">
          <a:blip r:embed="rId3">
            <a:alphaModFix/>
          </a:blip>
          <a:srcRect b="31516" l="724" r="0" t="0"/>
          <a:stretch/>
        </p:blipFill>
        <p:spPr>
          <a:xfrm>
            <a:off x="311700" y="1533925"/>
            <a:ext cx="8520602" cy="2485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6"/>
          <p:cNvSpPr txBox="1"/>
          <p:nvPr>
            <p:ph idx="1" type="body"/>
          </p:nvPr>
        </p:nvSpPr>
        <p:spPr>
          <a:xfrm>
            <a:off x="311700" y="581925"/>
            <a:ext cx="8520600" cy="3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RISC-V</a:t>
            </a: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Instructions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operation per instruction, at most one instruction per line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 instructions are related to C operations (=, +, -, *, /, &amp;, |, etc.)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be, since C code decomposes into assembly!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single line of C may break up into several lines of RISC-V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3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Assembly Language, registers have no type, simply stores 0s and 1s; operation determines how register contents are treated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"/>
          <p:cNvSpPr txBox="1"/>
          <p:nvPr>
            <p:ph idx="1" type="body"/>
          </p:nvPr>
        </p:nvSpPr>
        <p:spPr>
          <a:xfrm>
            <a:off x="311700" y="581925"/>
            <a:ext cx="8520600" cy="3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RISC-V</a:t>
            </a:r>
            <a:r>
              <a:rPr lang="en-IN" sz="24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Instructions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Instruction Syntax is rigid: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r>
              <a:rPr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 dst, src1, src2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34950" lvl="1" marL="74295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operator, 3 operands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 = operation name (“operator”)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dst = register getting result (“destination”)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src1 = first register for operation (“source 1”)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032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src2 = second register for operation (“source 2”)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3429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hardware simple via regularity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"/>
          <p:cNvSpPr txBox="1"/>
          <p:nvPr>
            <p:ph idx="1" type="body"/>
          </p:nvPr>
        </p:nvSpPr>
        <p:spPr>
          <a:xfrm>
            <a:off x="311700" y="581925"/>
            <a:ext cx="8520600" cy="3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CC99"/>
              </a:buClr>
              <a:buSzPts val="3600"/>
              <a:buFont typeface="Calibri"/>
              <a:buNone/>
            </a:pP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RISCV</a:t>
            </a: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Instructions Example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Suppose a → s0,b → s1,c → s2,d → s3 and e → s4.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3429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 the following C statement to RISCV: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urier New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(b + c) - (d + e);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Narrow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t1, s3, s4</a:t>
            </a: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t2, s1, s2</a:t>
            </a: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ourier New"/>
              <a:buNone/>
            </a:pPr>
            <a:r>
              <a:rPr lang="en-IN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 s0, t2, t1</a:t>
            </a:r>
            <a:endParaRPr sz="2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78" name="Google Shape;378;p28"/>
          <p:cNvGrpSpPr/>
          <p:nvPr/>
        </p:nvGrpSpPr>
        <p:grpSpPr>
          <a:xfrm>
            <a:off x="2983766" y="2469431"/>
            <a:ext cx="2934882" cy="918832"/>
            <a:chOff x="6464479" y="4072440"/>
            <a:chExt cx="2484030" cy="1589400"/>
          </a:xfrm>
        </p:grpSpPr>
        <p:cxnSp>
          <p:nvCxnSpPr>
            <p:cNvPr id="379" name="Google Shape;379;p28"/>
            <p:cNvCxnSpPr/>
            <p:nvPr/>
          </p:nvCxnSpPr>
          <p:spPr>
            <a:xfrm>
              <a:off x="6464479" y="4072440"/>
              <a:ext cx="10800" cy="15894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80" name="Google Shape;380;p28"/>
            <p:cNvSpPr txBox="1"/>
            <p:nvPr/>
          </p:nvSpPr>
          <p:spPr>
            <a:xfrm>
              <a:off x="6572508" y="4087412"/>
              <a:ext cx="2376000" cy="109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IN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Ordering of instructions matters (must follow order of operations)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81" name="Google Shape;381;p28"/>
          <p:cNvGrpSpPr/>
          <p:nvPr/>
        </p:nvGrpSpPr>
        <p:grpSpPr>
          <a:xfrm>
            <a:off x="2318925" y="3359575"/>
            <a:ext cx="4231059" cy="826204"/>
            <a:chOff x="4493963" y="5580475"/>
            <a:chExt cx="4231059" cy="826204"/>
          </a:xfrm>
        </p:grpSpPr>
        <p:cxnSp>
          <p:nvCxnSpPr>
            <p:cNvPr id="382" name="Google Shape;382;p28"/>
            <p:cNvCxnSpPr/>
            <p:nvPr/>
          </p:nvCxnSpPr>
          <p:spPr>
            <a:xfrm rot="10800000">
              <a:off x="4845363" y="5580475"/>
              <a:ext cx="486300" cy="3645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83" name="Google Shape;383;p28"/>
            <p:cNvSpPr txBox="1"/>
            <p:nvPr/>
          </p:nvSpPr>
          <p:spPr>
            <a:xfrm>
              <a:off x="5241721" y="5944979"/>
              <a:ext cx="3483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IN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Utilize temporary registers</a:t>
              </a:r>
              <a:endParaRPr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84" name="Google Shape;384;p28"/>
            <p:cNvCxnSpPr/>
            <p:nvPr/>
          </p:nvCxnSpPr>
          <p:spPr>
            <a:xfrm rot="10800000">
              <a:off x="4493963" y="5627200"/>
              <a:ext cx="716100" cy="405600"/>
            </a:xfrm>
            <a:prstGeom prst="straightConnector1">
              <a:avLst/>
            </a:prstGeom>
            <a:noFill/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9"/>
          <p:cNvSpPr txBox="1"/>
          <p:nvPr>
            <p:ph idx="1" type="body"/>
          </p:nvPr>
        </p:nvSpPr>
        <p:spPr>
          <a:xfrm>
            <a:off x="311700" y="572475"/>
            <a:ext cx="8520600" cy="4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19062" lvl="0" marL="1190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Writing to Running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9"/>
          <p:cNvSpPr/>
          <p:nvPr/>
        </p:nvSpPr>
        <p:spPr>
          <a:xfrm>
            <a:off x="552389" y="1693308"/>
            <a:ext cx="1178700" cy="310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sum.c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91" name="Google Shape;391;p29"/>
          <p:cNvGrpSpPr/>
          <p:nvPr/>
        </p:nvGrpSpPr>
        <p:grpSpPr>
          <a:xfrm>
            <a:off x="1712686" y="1171301"/>
            <a:ext cx="2098477" cy="832626"/>
            <a:chOff x="1503728" y="378243"/>
            <a:chExt cx="2306272" cy="2043254"/>
          </a:xfrm>
        </p:grpSpPr>
        <p:sp>
          <p:nvSpPr>
            <p:cNvPr id="392" name="Google Shape;392;p29"/>
            <p:cNvSpPr/>
            <p:nvPr/>
          </p:nvSpPr>
          <p:spPr>
            <a:xfrm>
              <a:off x="2514600" y="1659497"/>
              <a:ext cx="1295400" cy="762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sum.s</a:t>
              </a:r>
              <a:endParaRPr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93" name="Google Shape;393;p29"/>
            <p:cNvCxnSpPr/>
            <p:nvPr/>
          </p:nvCxnSpPr>
          <p:spPr>
            <a:xfrm>
              <a:off x="1524000" y="2040497"/>
              <a:ext cx="990600" cy="1500"/>
            </a:xfrm>
            <a:prstGeom prst="straightConnector1">
              <a:avLst/>
            </a:prstGeom>
            <a:noFill/>
            <a:ln cap="flat" cmpd="sng" w="76200">
              <a:solidFill>
                <a:srgbClr val="3333CC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94" name="Google Shape;394;p29"/>
            <p:cNvSpPr txBox="1"/>
            <p:nvPr/>
          </p:nvSpPr>
          <p:spPr>
            <a:xfrm>
              <a:off x="1503728" y="378243"/>
              <a:ext cx="1824600" cy="8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Compiler</a:t>
              </a:r>
              <a:endParaRPr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95" name="Google Shape;395;p29"/>
          <p:cNvSpPr txBox="1"/>
          <p:nvPr/>
        </p:nvSpPr>
        <p:spPr>
          <a:xfrm>
            <a:off x="311725" y="2003776"/>
            <a:ext cx="16599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source</a:t>
            </a:r>
            <a:endParaRPr sz="16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files</a:t>
            </a:r>
            <a:endParaRPr sz="16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6" name="Google Shape;396;p29"/>
          <p:cNvSpPr txBox="1"/>
          <p:nvPr/>
        </p:nvSpPr>
        <p:spPr>
          <a:xfrm>
            <a:off x="2412558" y="2032700"/>
            <a:ext cx="17433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files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97" name="Google Shape;397;p29"/>
          <p:cNvGrpSpPr/>
          <p:nvPr/>
        </p:nvGrpSpPr>
        <p:grpSpPr>
          <a:xfrm>
            <a:off x="3702071" y="1171301"/>
            <a:ext cx="2537305" cy="1300954"/>
            <a:chOff x="3660432" y="378243"/>
            <a:chExt cx="2788554" cy="3192525"/>
          </a:xfrm>
        </p:grpSpPr>
        <p:cxnSp>
          <p:nvCxnSpPr>
            <p:cNvPr id="398" name="Google Shape;398;p29"/>
            <p:cNvCxnSpPr/>
            <p:nvPr/>
          </p:nvCxnSpPr>
          <p:spPr>
            <a:xfrm>
              <a:off x="3810000" y="1964297"/>
              <a:ext cx="990600" cy="1500"/>
            </a:xfrm>
            <a:prstGeom prst="straightConnector1">
              <a:avLst/>
            </a:prstGeom>
            <a:noFill/>
            <a:ln cap="flat" cmpd="sng" w="76200">
              <a:solidFill>
                <a:srgbClr val="00B050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99" name="Google Shape;399;p29"/>
            <p:cNvSpPr/>
            <p:nvPr/>
          </p:nvSpPr>
          <p:spPr>
            <a:xfrm>
              <a:off x="4800600" y="1659497"/>
              <a:ext cx="1295400" cy="762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sum.o</a:t>
              </a:r>
              <a:endParaRPr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0" name="Google Shape;400;p29"/>
            <p:cNvSpPr txBox="1"/>
            <p:nvPr/>
          </p:nvSpPr>
          <p:spPr>
            <a:xfrm>
              <a:off x="3660432" y="378243"/>
              <a:ext cx="2121000" cy="8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Assembler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1" name="Google Shape;401;p29"/>
            <p:cNvSpPr txBox="1"/>
            <p:nvPr/>
          </p:nvSpPr>
          <p:spPr>
            <a:xfrm>
              <a:off x="4874585" y="2730468"/>
              <a:ext cx="1574400" cy="8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 files</a:t>
              </a:r>
              <a:endParaRPr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02" name="Google Shape;402;p29"/>
          <p:cNvGrpSpPr/>
          <p:nvPr/>
        </p:nvGrpSpPr>
        <p:grpSpPr>
          <a:xfrm>
            <a:off x="5918194" y="1247501"/>
            <a:ext cx="3295525" cy="1004838"/>
            <a:chOff x="6125673" y="565237"/>
            <a:chExt cx="3621854" cy="2465860"/>
          </a:xfrm>
        </p:grpSpPr>
        <p:sp>
          <p:nvSpPr>
            <p:cNvPr id="403" name="Google Shape;403;p29"/>
            <p:cNvSpPr/>
            <p:nvPr/>
          </p:nvSpPr>
          <p:spPr>
            <a:xfrm>
              <a:off x="7239000" y="2269097"/>
              <a:ext cx="1447800" cy="7620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sum</a:t>
              </a:r>
              <a:endParaRPr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404" name="Google Shape;404;p29"/>
            <p:cNvCxnSpPr>
              <a:stCxn id="399" idx="3"/>
            </p:cNvCxnSpPr>
            <p:nvPr/>
          </p:nvCxnSpPr>
          <p:spPr>
            <a:xfrm>
              <a:off x="6125674" y="2040497"/>
              <a:ext cx="1121100" cy="644100"/>
            </a:xfrm>
            <a:prstGeom prst="straightConnector1">
              <a:avLst/>
            </a:prstGeom>
            <a:noFill/>
            <a:ln cap="flat" cmpd="sng" w="76200">
              <a:solidFill>
                <a:srgbClr val="16165C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405" name="Google Shape;405;p29"/>
            <p:cNvSpPr txBox="1"/>
            <p:nvPr/>
          </p:nvSpPr>
          <p:spPr>
            <a:xfrm>
              <a:off x="6202978" y="565237"/>
              <a:ext cx="1300500" cy="84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Linker</a:t>
              </a:r>
              <a:endParaRPr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6" name="Google Shape;406;p29"/>
            <p:cNvSpPr txBox="1"/>
            <p:nvPr/>
          </p:nvSpPr>
          <p:spPr>
            <a:xfrm>
              <a:off x="7581527" y="845212"/>
              <a:ext cx="2166000" cy="14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executable</a:t>
              </a:r>
              <a:endParaRPr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program</a:t>
              </a:r>
              <a:endParaRPr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407" name="Google Shape;407;p29"/>
          <p:cNvCxnSpPr/>
          <p:nvPr/>
        </p:nvCxnSpPr>
        <p:spPr>
          <a:xfrm>
            <a:off x="7553928" y="2275115"/>
            <a:ext cx="0" cy="595200"/>
          </a:xfrm>
          <a:prstGeom prst="straightConnector1">
            <a:avLst/>
          </a:prstGeom>
          <a:noFill/>
          <a:ln cap="flat" cmpd="sng" w="76200">
            <a:solidFill>
              <a:srgbClr val="FFFFFF"/>
            </a:solidFill>
            <a:prstDash val="solid"/>
            <a:round/>
            <a:headEnd len="sm" w="sm" type="none"/>
            <a:tailEnd len="med" w="med" type="stealth"/>
          </a:ln>
        </p:spPr>
      </p:cxnSp>
      <p:grpSp>
        <p:nvGrpSpPr>
          <p:cNvPr id="408" name="Google Shape;408;p29"/>
          <p:cNvGrpSpPr/>
          <p:nvPr/>
        </p:nvGrpSpPr>
        <p:grpSpPr>
          <a:xfrm>
            <a:off x="6316806" y="3167033"/>
            <a:ext cx="1985185" cy="1320290"/>
            <a:chOff x="6934200" y="4548178"/>
            <a:chExt cx="2057400" cy="2752898"/>
          </a:xfrm>
        </p:grpSpPr>
        <p:sp>
          <p:nvSpPr>
            <p:cNvPr id="409" name="Google Shape;409;p29"/>
            <p:cNvSpPr/>
            <p:nvPr/>
          </p:nvSpPr>
          <p:spPr>
            <a:xfrm>
              <a:off x="6934200" y="4548178"/>
              <a:ext cx="2057400" cy="211980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Executing 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Memory</a:t>
              </a:r>
              <a:endParaRPr sz="16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0" name="Google Shape;410;p29"/>
            <p:cNvSpPr txBox="1"/>
            <p:nvPr/>
          </p:nvSpPr>
          <p:spPr>
            <a:xfrm>
              <a:off x="7010393" y="6065676"/>
              <a:ext cx="948000" cy="1235400"/>
            </a:xfrm>
            <a:prstGeom prst="rect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process</a:t>
              </a:r>
              <a:endParaRPr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11" name="Google Shape;411;p29"/>
          <p:cNvSpPr txBox="1"/>
          <p:nvPr/>
        </p:nvSpPr>
        <p:spPr>
          <a:xfrm>
            <a:off x="6942550" y="2219000"/>
            <a:ext cx="1762500" cy="3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exists on disk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2" name="Google Shape;412;p29"/>
          <p:cNvSpPr txBox="1"/>
          <p:nvPr/>
        </p:nvSpPr>
        <p:spPr>
          <a:xfrm>
            <a:off x="784823" y="3224005"/>
            <a:ext cx="4666200" cy="1208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most people say “compile” they mean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entire process: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800">
                <a:solidFill>
                  <a:srgbClr val="3333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 </a:t>
            </a:r>
            <a:r>
              <a:rPr i="1" lang="en-I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</a:t>
            </a:r>
            <a:r>
              <a:rPr i="1" lang="en-IN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IN" sz="1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assemble</a:t>
            </a:r>
            <a:r>
              <a:rPr i="1" lang="en-IN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I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i="1" lang="en-IN" sz="1800">
                <a:solidFill>
                  <a:srgbClr val="1616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3" name="Google Shape;413;p29"/>
          <p:cNvSpPr txBox="1"/>
          <p:nvPr/>
        </p:nvSpPr>
        <p:spPr>
          <a:xfrm>
            <a:off x="6239376" y="2928041"/>
            <a:ext cx="1439400" cy="2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IN" sz="1200">
                <a:solidFill>
                  <a:srgbClr val="000000"/>
                </a:solidFill>
                <a:latin typeface="Arial Narrow"/>
                <a:ea typeface="Arial Narrow"/>
                <a:cs typeface="Arial Narrow"/>
                <a:sym typeface="Arial Narrow"/>
              </a:rPr>
              <a:t>“It’s alive!”</a:t>
            </a:r>
            <a:endParaRPr sz="1200"/>
          </a:p>
        </p:txBody>
      </p:sp>
      <p:sp>
        <p:nvSpPr>
          <p:cNvPr id="414" name="Google Shape;414;p29"/>
          <p:cNvSpPr/>
          <p:nvPr/>
        </p:nvSpPr>
        <p:spPr>
          <a:xfrm>
            <a:off x="1746817" y="1345589"/>
            <a:ext cx="9612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gcc -S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5" name="Google Shape;415;p29"/>
          <p:cNvSpPr/>
          <p:nvPr/>
        </p:nvSpPr>
        <p:spPr>
          <a:xfrm>
            <a:off x="3795525" y="1345589"/>
            <a:ext cx="9147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gcc -c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29"/>
          <p:cNvSpPr/>
          <p:nvPr/>
        </p:nvSpPr>
        <p:spPr>
          <a:xfrm>
            <a:off x="6012539" y="1421789"/>
            <a:ext cx="930000" cy="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gcc -o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0"/>
          <p:cNvSpPr txBox="1"/>
          <p:nvPr>
            <p:ph idx="1" type="body"/>
          </p:nvPr>
        </p:nvSpPr>
        <p:spPr>
          <a:xfrm>
            <a:off x="311700" y="581925"/>
            <a:ext cx="8520600" cy="3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19062" lvl="0" marL="11906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variables vs. registers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9062" lvl="0" marL="11906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10001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2A85"/>
              </a:buClr>
              <a:buSzPts val="2000"/>
              <a:buFont typeface="Times New Roman"/>
              <a:buChar char="❖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C (and most High Level Languages) variables declared first and given a type. E.g., int fahr, celsius; </a:t>
            </a:r>
            <a:b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char a, b, c, d, e;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100012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4B2A85"/>
              </a:buClr>
              <a:buSzPts val="2000"/>
              <a:buFont typeface="Noto Sans Symbols"/>
              <a:buChar char="❖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variable can ONLY represent a value of the type it was declared as (cannot mix and match int and char variables).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0" marL="100012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4B2A85"/>
              </a:buClr>
              <a:buSzPts val="2000"/>
              <a:buFont typeface="Times New Roman"/>
              <a:buChar char="❖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Assembly Language, the registers have no data type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0" lvl="1" marL="357187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4B2A85"/>
              </a:buClr>
              <a:buSzPts val="2000"/>
              <a:buFont typeface="Times New Roman"/>
              <a:buChar char="▪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 determines how register contents are treated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19062" lvl="0" marL="1190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1"/>
          <p:cNvSpPr txBox="1"/>
          <p:nvPr>
            <p:ph idx="1" type="body"/>
          </p:nvPr>
        </p:nvSpPr>
        <p:spPr>
          <a:xfrm>
            <a:off x="311700" y="675800"/>
            <a:ext cx="3999900" cy="38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Flow</a:t>
            </a:r>
            <a:endParaRPr sz="2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2000">
                <a:solidFill>
                  <a:schemeClr val="dk1"/>
                </a:solidFill>
              </a:rPr>
              <a:t>A compilation toolchain includes  The COMPILER translates high-level source code to a lower-level representation</a:t>
            </a:r>
            <a:endParaRPr sz="2000">
              <a:solidFill>
                <a:schemeClr val="dk1"/>
              </a:solidFill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2000">
                <a:solidFill>
                  <a:schemeClr val="dk1"/>
                </a:solidFill>
              </a:rPr>
              <a:t>The ASSEMBLER is program that translates assembly language to machine language</a:t>
            </a:r>
            <a:endParaRPr sz="2000">
              <a:solidFill>
                <a:schemeClr val="dk1"/>
              </a:solidFill>
            </a:endParaRPr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2000">
                <a:solidFill>
                  <a:schemeClr val="dk1"/>
                </a:solidFill>
              </a:rPr>
              <a:t>The LINKER combines multiple  files into a single executable</a:t>
            </a:r>
            <a:endParaRPr/>
          </a:p>
        </p:txBody>
      </p:sp>
      <p:pic>
        <p:nvPicPr>
          <p:cNvPr id="427" name="Google Shape;427;p31"/>
          <p:cNvPicPr preferRelativeResize="0"/>
          <p:nvPr/>
        </p:nvPicPr>
        <p:blipFill rotWithShape="1">
          <a:blip r:embed="rId3">
            <a:alphaModFix/>
          </a:blip>
          <a:srcRect b="9834" l="65132" r="0" t="2353"/>
          <a:stretch/>
        </p:blipFill>
        <p:spPr>
          <a:xfrm>
            <a:off x="5300849" y="769875"/>
            <a:ext cx="2855751" cy="39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1"/>
          <p:cNvSpPr txBox="1"/>
          <p:nvPr>
            <p:ph idx="2" type="body"/>
          </p:nvPr>
        </p:nvSpPr>
        <p:spPr>
          <a:xfrm>
            <a:off x="4832400" y="675775"/>
            <a:ext cx="3999900" cy="38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2"/>
          <p:cNvSpPr txBox="1"/>
          <p:nvPr>
            <p:ph idx="1" type="body"/>
          </p:nvPr>
        </p:nvSpPr>
        <p:spPr>
          <a:xfrm>
            <a:off x="311700" y="581925"/>
            <a:ext cx="8520600" cy="39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2"/>
          <p:cNvSpPr/>
          <p:nvPr/>
        </p:nvSpPr>
        <p:spPr>
          <a:xfrm>
            <a:off x="1612325" y="704125"/>
            <a:ext cx="3543900" cy="6540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 *</a:t>
            </a:r>
            <a:r>
              <a:rPr i="0" lang="en-IN" sz="1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= malloc(sizeof(car));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c-&gt;miles = 100;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</a:t>
            </a:r>
            <a:r>
              <a:rPr lang="en-I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mpg = get_mpg(c);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free(c);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5" name="Google Shape;43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5943" y="3674341"/>
            <a:ext cx="1175687" cy="795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3831" y="3718087"/>
            <a:ext cx="1784397" cy="702561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2"/>
          <p:cNvSpPr/>
          <p:nvPr/>
        </p:nvSpPr>
        <p:spPr>
          <a:xfrm>
            <a:off x="1620284" y="3659540"/>
            <a:ext cx="6840600" cy="795600"/>
          </a:xfrm>
          <a:prstGeom prst="rect">
            <a:avLst/>
          </a:prstGeom>
          <a:noFill/>
          <a:ln cap="flat" cmpd="sng" w="19050">
            <a:solidFill>
              <a:srgbClr val="000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 Narrow"/>
              <a:buNone/>
            </a:pPr>
            <a:r>
              <a:t/>
            </a:r>
            <a:endParaRPr b="0" sz="24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38" name="Google Shape;438;p32"/>
          <p:cNvSpPr txBox="1"/>
          <p:nvPr/>
        </p:nvSpPr>
        <p:spPr>
          <a:xfrm>
            <a:off x="356323" y="1149500"/>
            <a:ext cx="4605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9" name="Google Shape;439;p32"/>
          <p:cNvSpPr txBox="1"/>
          <p:nvPr/>
        </p:nvSpPr>
        <p:spPr>
          <a:xfrm>
            <a:off x="394161" y="1794836"/>
            <a:ext cx="13782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Assembly language: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32"/>
          <p:cNvSpPr txBox="1"/>
          <p:nvPr/>
        </p:nvSpPr>
        <p:spPr>
          <a:xfrm>
            <a:off x="350763" y="2741358"/>
            <a:ext cx="13782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code: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1" name="Google Shape;441;p32"/>
          <p:cNvSpPr/>
          <p:nvPr/>
        </p:nvSpPr>
        <p:spPr>
          <a:xfrm>
            <a:off x="1620275" y="2697550"/>
            <a:ext cx="3535800" cy="7167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0111010000011000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100011010000010000000010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1000100111000010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IN" sz="1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110000011111101000011111</a:t>
            </a:r>
            <a:endParaRPr sz="1000"/>
          </a:p>
        </p:txBody>
      </p:sp>
      <p:sp>
        <p:nvSpPr>
          <p:cNvPr id="442" name="Google Shape;442;p32"/>
          <p:cNvSpPr txBox="1"/>
          <p:nvPr/>
        </p:nvSpPr>
        <p:spPr>
          <a:xfrm>
            <a:off x="350786" y="3674354"/>
            <a:ext cx="13782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system: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3" name="Google Shape;443;p32"/>
          <p:cNvSpPr txBox="1"/>
          <p:nvPr/>
        </p:nvSpPr>
        <p:spPr>
          <a:xfrm>
            <a:off x="5488482" y="2442319"/>
            <a:ext cx="11151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44" name="Google Shape;444;p32"/>
          <p:cNvGrpSpPr/>
          <p:nvPr/>
        </p:nvGrpSpPr>
        <p:grpSpPr>
          <a:xfrm>
            <a:off x="5513900" y="2701398"/>
            <a:ext cx="2947111" cy="716743"/>
            <a:chOff x="5562600" y="4401458"/>
            <a:chExt cx="3048000" cy="1097280"/>
          </a:xfrm>
        </p:grpSpPr>
        <p:grpSp>
          <p:nvGrpSpPr>
            <p:cNvPr id="445" name="Google Shape;445;p32"/>
            <p:cNvGrpSpPr/>
            <p:nvPr/>
          </p:nvGrpSpPr>
          <p:grpSpPr>
            <a:xfrm>
              <a:off x="5568724" y="4401458"/>
              <a:ext cx="3041876" cy="1097280"/>
              <a:chOff x="5568724" y="4401458"/>
              <a:chExt cx="3041876" cy="1097280"/>
            </a:xfrm>
          </p:grpSpPr>
          <p:pic>
            <p:nvPicPr>
              <p:cNvPr id="446" name="Google Shape;446;p3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568724" y="4401458"/>
                <a:ext cx="1213076" cy="10972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7" name="Google Shape;447;p32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7835900" y="4486341"/>
                <a:ext cx="774700" cy="89774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48" name="Google Shape;448;p32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6858000" y="4473714"/>
                <a:ext cx="82296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449" name="Google Shape;449;p32"/>
            <p:cNvSpPr/>
            <p:nvPr/>
          </p:nvSpPr>
          <p:spPr>
            <a:xfrm>
              <a:off x="5562600" y="4419600"/>
              <a:ext cx="3048000" cy="1056000"/>
            </a:xfrm>
            <a:prstGeom prst="rect">
              <a:avLst/>
            </a:prstGeom>
            <a:noFill/>
            <a:ln cap="flat" cmpd="sng" w="19050">
              <a:solidFill>
                <a:srgbClr val="00009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 Narrow"/>
                <a:buNone/>
              </a:pPr>
              <a:r>
                <a:t/>
              </a:r>
              <a:endParaRPr b="0" sz="2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450" name="Google Shape;450;p32"/>
          <p:cNvCxnSpPr/>
          <p:nvPr/>
        </p:nvCxnSpPr>
        <p:spPr>
          <a:xfrm flipH="1">
            <a:off x="3314061" y="1386280"/>
            <a:ext cx="300" cy="21210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1" name="Google Shape;451;p32"/>
          <p:cNvCxnSpPr/>
          <p:nvPr/>
        </p:nvCxnSpPr>
        <p:spPr>
          <a:xfrm>
            <a:off x="3310082" y="2484494"/>
            <a:ext cx="0" cy="21300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2" name="Google Shape;452;p32"/>
          <p:cNvCxnSpPr/>
          <p:nvPr/>
        </p:nvCxnSpPr>
        <p:spPr>
          <a:xfrm>
            <a:off x="3309987" y="3459511"/>
            <a:ext cx="0" cy="21300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3" name="Google Shape;453;p32"/>
          <p:cNvCxnSpPr/>
          <p:nvPr/>
        </p:nvCxnSpPr>
        <p:spPr>
          <a:xfrm>
            <a:off x="6527377" y="3459511"/>
            <a:ext cx="0" cy="213000"/>
          </a:xfrm>
          <a:prstGeom prst="straightConnector1">
            <a:avLst/>
          </a:prstGeom>
          <a:noFill/>
          <a:ln cap="flat" cmpd="sng" w="38100">
            <a:solidFill>
              <a:srgbClr val="008000"/>
            </a:solidFill>
            <a:prstDash val="solid"/>
            <a:round/>
            <a:headEnd len="sm" w="sm" type="none"/>
            <a:tailEnd len="med" w="med" type="stealth"/>
          </a:ln>
        </p:spPr>
      </p:cxnSp>
      <p:pic>
        <p:nvPicPr>
          <p:cNvPr id="454" name="Google Shape;454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12605" y="3755026"/>
            <a:ext cx="755671" cy="605263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2"/>
          <p:cNvSpPr txBox="1"/>
          <p:nvPr/>
        </p:nvSpPr>
        <p:spPr>
          <a:xfrm>
            <a:off x="6340773" y="609600"/>
            <a:ext cx="2081700" cy="1920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&amp; data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Arrays &amp; structs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Integers &amp; floats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RISC V assembly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Procedures &amp; stacks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Executables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Memory &amp; caches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 Pipeline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Parallelism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p32"/>
          <p:cNvSpPr/>
          <p:nvPr/>
        </p:nvSpPr>
        <p:spPr>
          <a:xfrm>
            <a:off x="1620275" y="1598375"/>
            <a:ext cx="3535800" cy="834600"/>
          </a:xfrm>
          <a:prstGeom prst="rect">
            <a:avLst/>
          </a:pr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 Narrow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7" name="Google Shape;457;p32"/>
          <p:cNvPicPr preferRelativeResize="0"/>
          <p:nvPr/>
        </p:nvPicPr>
        <p:blipFill rotWithShape="1">
          <a:blip r:embed="rId9">
            <a:alphaModFix/>
          </a:blip>
          <a:srcRect b="0" l="0" r="27076" t="0"/>
          <a:stretch/>
        </p:blipFill>
        <p:spPr>
          <a:xfrm>
            <a:off x="2413000" y="1612675"/>
            <a:ext cx="1872375" cy="7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RISC-V Programming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4"/>
          <p:cNvSpPr txBox="1"/>
          <p:nvPr>
            <p:ph idx="1" type="body"/>
          </p:nvPr>
        </p:nvSpPr>
        <p:spPr>
          <a:xfrm>
            <a:off x="311700" y="675800"/>
            <a:ext cx="8520600" cy="38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Launch the WSL software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Search for command prompt in windows and type the following command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68" name="Google Shape;468;p34"/>
          <p:cNvPicPr preferRelativeResize="0"/>
          <p:nvPr/>
        </p:nvPicPr>
        <p:blipFill rotWithShape="1">
          <a:blip r:embed="rId3">
            <a:alphaModFix/>
          </a:blip>
          <a:srcRect b="37252" l="0" r="0" t="0"/>
          <a:stretch/>
        </p:blipFill>
        <p:spPr>
          <a:xfrm>
            <a:off x="2235201" y="2045726"/>
            <a:ext cx="4673600" cy="252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5"/>
          <p:cNvSpPr txBox="1"/>
          <p:nvPr>
            <p:ph idx="1" type="body"/>
          </p:nvPr>
        </p:nvSpPr>
        <p:spPr>
          <a:xfrm>
            <a:off x="311700" y="675800"/>
            <a:ext cx="8520600" cy="38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 Configuration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Launch command                                                                                                prompt using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highlight>
                  <a:srgbClr val="00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wsl -d Ubuntu </a:t>
            </a:r>
            <a:r>
              <a:rPr lang="en-IN" sz="2000">
                <a:solidFill>
                  <a:schemeClr val="dk1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change from                                                                                                                 existing windows                                                                                                                               directory to the main                                                                                                                   working directory in                                                                                                            Ubuntu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4" name="Google Shape;474;p35"/>
          <p:cNvPicPr preferRelativeResize="0"/>
          <p:nvPr/>
        </p:nvPicPr>
        <p:blipFill rotWithShape="1">
          <a:blip r:embed="rId3">
            <a:alphaModFix/>
          </a:blip>
          <a:srcRect b="7235" l="0" r="0" t="0"/>
          <a:stretch/>
        </p:blipFill>
        <p:spPr>
          <a:xfrm>
            <a:off x="3690236" y="1168194"/>
            <a:ext cx="4940200" cy="32166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